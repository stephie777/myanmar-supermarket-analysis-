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73" r:id="rId3"/>
    <p:sldId id="258" r:id="rId4"/>
    <p:sldId id="268" r:id="rId5"/>
    <p:sldId id="266" r:id="rId6"/>
    <p:sldId id="261" r:id="rId7"/>
    <p:sldId id="259" r:id="rId8"/>
    <p:sldId id="264" r:id="rId9"/>
    <p:sldId id="267" r:id="rId10"/>
    <p:sldId id="270" r:id="rId11"/>
    <p:sldId id="271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[Chart in Microsoft PowerPoint]PIVOT TABLE!PivotTable16</c:name>
    <c:fmtId val="11"/>
  </c:pivotSource>
  <c:chart>
    <c:autoTitleDeleted val="1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35847583"/>
        <c:axId val="535852863"/>
      </c:barChart>
      <c:catAx>
        <c:axId val="535847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852863"/>
        <c:crosses val="autoZero"/>
        <c:auto val="1"/>
        <c:lblAlgn val="ctr"/>
        <c:lblOffset val="100"/>
        <c:noMultiLvlLbl val="0"/>
      </c:catAx>
      <c:valAx>
        <c:axId val="535852863"/>
        <c:scaling>
          <c:orientation val="minMax"/>
        </c:scaling>
        <c:delete val="1"/>
        <c:axPos val="b"/>
        <c:numFmt formatCode="&quot;$&quot;#,##0" sourceLinked="1"/>
        <c:majorTickMark val="none"/>
        <c:minorTickMark val="none"/>
        <c:tickLblPos val="nextTo"/>
        <c:crossAx val="535847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[ASSIGNMENT - WINMART SUPERMARKET PIVOT AND DASHBOARD (version 1).xlsb.xlsx]PIVOT TABLE!PivotTable16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u="sng" dirty="0">
                <a:solidFill>
                  <a:schemeClr val="tx1"/>
                </a:solidFill>
              </a:rPr>
              <a:t>SALES BY HOURS OF THE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TABLE'!$P$15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TABLE'!$O$16:$O$27</c:f>
              <c:strCache>
                <c:ptCount val="11"/>
                <c:pt idx="0">
                  <c:v>8 PM</c:v>
                </c:pt>
                <c:pt idx="1">
                  <c:v>7 PM</c:v>
                </c:pt>
                <c:pt idx="2">
                  <c:v>6 PM</c:v>
                </c:pt>
                <c:pt idx="3">
                  <c:v>5 PM</c:v>
                </c:pt>
                <c:pt idx="4">
                  <c:v>4 PM</c:v>
                </c:pt>
                <c:pt idx="5">
                  <c:v>3 PM</c:v>
                </c:pt>
                <c:pt idx="6">
                  <c:v>2 PM</c:v>
                </c:pt>
                <c:pt idx="7">
                  <c:v>12 PM</c:v>
                </c:pt>
                <c:pt idx="8">
                  <c:v>11 AM</c:v>
                </c:pt>
                <c:pt idx="9">
                  <c:v>10 AM</c:v>
                </c:pt>
                <c:pt idx="10">
                  <c:v>1 PM</c:v>
                </c:pt>
              </c:strCache>
            </c:strRef>
          </c:cat>
          <c:val>
            <c:numRef>
              <c:f>'PIVOT TABLE'!$P$16:$P$27</c:f>
              <c:numCache>
                <c:formatCode>"$"#,##0</c:formatCode>
                <c:ptCount val="11"/>
                <c:pt idx="0">
                  <c:v>22967</c:v>
                </c:pt>
                <c:pt idx="1">
                  <c:v>39698</c:v>
                </c:pt>
                <c:pt idx="2">
                  <c:v>26034</c:v>
                </c:pt>
                <c:pt idx="3">
                  <c:v>24445</c:v>
                </c:pt>
                <c:pt idx="4">
                  <c:v>25226</c:v>
                </c:pt>
                <c:pt idx="5">
                  <c:v>31183</c:v>
                </c:pt>
                <c:pt idx="6">
                  <c:v>30829</c:v>
                </c:pt>
                <c:pt idx="7">
                  <c:v>26069</c:v>
                </c:pt>
                <c:pt idx="8">
                  <c:v>30382</c:v>
                </c:pt>
                <c:pt idx="9">
                  <c:v>31423</c:v>
                </c:pt>
                <c:pt idx="10">
                  <c:v>34719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E-4BA0-85BE-7A028D18F4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35847583"/>
        <c:axId val="535852863"/>
      </c:barChart>
      <c:catAx>
        <c:axId val="535847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852863"/>
        <c:crosses val="autoZero"/>
        <c:auto val="1"/>
        <c:lblAlgn val="ctr"/>
        <c:lblOffset val="100"/>
        <c:noMultiLvlLbl val="0"/>
      </c:catAx>
      <c:valAx>
        <c:axId val="535852863"/>
        <c:scaling>
          <c:orientation val="minMax"/>
        </c:scaling>
        <c:delete val="1"/>
        <c:axPos val="b"/>
        <c:numFmt formatCode="&quot;$&quot;#,##0" sourceLinked="1"/>
        <c:majorTickMark val="none"/>
        <c:minorTickMark val="none"/>
        <c:tickLblPos val="nextTo"/>
        <c:crossAx val="535847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[ASSIGNMENT - WINMART SUPERMARKET PIVOT AND DASHBOARD (version 1).xlsb.xlsx]PIVOT TABLE!PivotTable12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u="sng" dirty="0"/>
              <a:t>MONTHLY SALES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8987010304267516E-2"/>
          <c:y val="0.14387459673323469"/>
          <c:w val="0.96101298969573246"/>
          <c:h val="0.76169743651263133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TABLE'!$J$15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TABLE'!$I$16:$I$19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'PIVOT TABLE'!$J$16:$J$19</c:f>
              <c:numCache>
                <c:formatCode>"$"#,##0</c:formatCode>
                <c:ptCount val="3"/>
                <c:pt idx="0">
                  <c:v>116296</c:v>
                </c:pt>
                <c:pt idx="1">
                  <c:v>97214</c:v>
                </c:pt>
                <c:pt idx="2">
                  <c:v>109465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53-4F5D-A7C1-A5120C895DA5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35831743"/>
        <c:axId val="535823103"/>
      </c:lineChart>
      <c:catAx>
        <c:axId val="535831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823103"/>
        <c:crosses val="autoZero"/>
        <c:auto val="1"/>
        <c:lblAlgn val="ctr"/>
        <c:lblOffset val="100"/>
        <c:noMultiLvlLbl val="0"/>
      </c:catAx>
      <c:valAx>
        <c:axId val="535823103"/>
        <c:scaling>
          <c:orientation val="minMax"/>
        </c:scaling>
        <c:delete val="1"/>
        <c:axPos val="l"/>
        <c:numFmt formatCode="&quot;$&quot;#,##0" sourceLinked="1"/>
        <c:majorTickMark val="none"/>
        <c:minorTickMark val="none"/>
        <c:tickLblPos val="nextTo"/>
        <c:crossAx val="535831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[ASSIGNMENT - WINMART SUPERMARKET PIVOT AND DASHBOARD (version 1).xlsb.xlsx]PIVOT TABLE!PivotTable6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u="sng" dirty="0"/>
              <a:t>TOTAL SALES BY PRODUCT LINES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331174635779224"/>
          <c:y val="0.14387459673323469"/>
          <c:w val="0.80622804994563968"/>
          <c:h val="0.824020335813949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TABLE'!$D$4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TABLE'!$C$5:$C$11</c:f>
              <c:strCache>
                <c:ptCount val="6"/>
                <c:pt idx="0">
                  <c:v>Food And Beverages</c:v>
                </c:pt>
                <c:pt idx="1">
                  <c:v>Sports And Travel</c:v>
                </c:pt>
                <c:pt idx="2">
                  <c:v>Electronic Accessories</c:v>
                </c:pt>
                <c:pt idx="3">
                  <c:v>Fashion Accessories</c:v>
                </c:pt>
                <c:pt idx="4">
                  <c:v>Home And Lifestyle</c:v>
                </c:pt>
                <c:pt idx="5">
                  <c:v>Health And Beauty</c:v>
                </c:pt>
              </c:strCache>
            </c:strRef>
          </c:cat>
          <c:val>
            <c:numRef>
              <c:f>'PIVOT TABLE'!$D$5:$D$11</c:f>
              <c:numCache>
                <c:formatCode>"$"#,##0</c:formatCode>
                <c:ptCount val="6"/>
                <c:pt idx="0">
                  <c:v>56154</c:v>
                </c:pt>
                <c:pt idx="1">
                  <c:v>55126</c:v>
                </c:pt>
                <c:pt idx="2">
                  <c:v>54338</c:v>
                </c:pt>
                <c:pt idx="3">
                  <c:v>54300</c:v>
                </c:pt>
                <c:pt idx="4">
                  <c:v>53867</c:v>
                </c:pt>
                <c:pt idx="5">
                  <c:v>49190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4C-4FA7-9409-CBE8A7C87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1357951"/>
        <c:axId val="271367071"/>
      </c:barChart>
      <c:catAx>
        <c:axId val="271357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1367071"/>
        <c:crosses val="autoZero"/>
        <c:auto val="1"/>
        <c:lblAlgn val="ctr"/>
        <c:lblOffset val="100"/>
        <c:noMultiLvlLbl val="0"/>
      </c:catAx>
      <c:valAx>
        <c:axId val="271367071"/>
        <c:scaling>
          <c:orientation val="minMax"/>
        </c:scaling>
        <c:delete val="1"/>
        <c:axPos val="b"/>
        <c:numFmt formatCode="&quot;$&quot;#,##0" sourceLinked="1"/>
        <c:majorTickMark val="none"/>
        <c:minorTickMark val="none"/>
        <c:tickLblPos val="nextTo"/>
        <c:crossAx val="271357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[ASSIGNMENT - WINMART SUPERMARKET PIVOT AND DASHBOARD (version 1).xlsb.xlsx]PIVOT TABLE!PivotTable8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u="sng" dirty="0"/>
              <a:t>TOTAL SALES BY BRANCH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>
              <a:tint val="65000"/>
            </a:schemeClr>
          </a:solidFill>
          <a:ln>
            <a:solidFill>
              <a:schemeClr val="bg1"/>
            </a:solidFill>
          </a:ln>
          <a:effectLst/>
        </c:spPr>
      </c:pivotFmt>
      <c:pivotFmt>
        <c:idx val="4"/>
        <c:spPr>
          <a:solidFill>
            <a:schemeClr val="accent5">
              <a:shade val="65000"/>
            </a:schemeClr>
          </a:solidFill>
          <a:ln>
            <a:solidFill>
              <a:schemeClr val="bg1"/>
            </a:solidFill>
          </a:ln>
          <a:effectLst/>
        </c:spPr>
      </c:pivotFmt>
      <c:pivotFmt>
        <c:idx val="5"/>
        <c:spPr>
          <a:solidFill>
            <a:schemeClr val="accent5"/>
          </a:solidFill>
          <a:ln>
            <a:solidFill>
              <a:schemeClr val="bg1"/>
            </a:solidFill>
          </a:ln>
          <a:effectLst/>
        </c:spPr>
      </c:pivotFmt>
      <c:pivotFmt>
        <c:idx val="6"/>
        <c:spPr>
          <a:solidFill>
            <a:schemeClr val="accent5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>
              <a:shade val="65000"/>
            </a:schemeClr>
          </a:solidFill>
          <a:ln>
            <a:solidFill>
              <a:schemeClr val="bg1"/>
            </a:solidFill>
          </a:ln>
          <a:effectLst/>
        </c:spPr>
      </c:pivotFmt>
      <c:pivotFmt>
        <c:idx val="8"/>
        <c:spPr>
          <a:solidFill>
            <a:schemeClr val="accent5"/>
          </a:solidFill>
          <a:ln>
            <a:solidFill>
              <a:schemeClr val="bg1"/>
            </a:solidFill>
          </a:ln>
          <a:effectLst/>
        </c:spPr>
      </c:pivotFmt>
      <c:pivotFmt>
        <c:idx val="9"/>
        <c:spPr>
          <a:solidFill>
            <a:schemeClr val="accent5">
              <a:tint val="65000"/>
            </a:schemeClr>
          </a:solidFill>
          <a:ln>
            <a:solidFill>
              <a:schemeClr val="bg1"/>
            </a:solidFill>
          </a:ln>
          <a:effectLst/>
        </c:spPr>
      </c:pivotFmt>
      <c:pivotFmt>
        <c:idx val="10"/>
        <c:spPr>
          <a:solidFill>
            <a:schemeClr val="accent5"/>
          </a:solidFill>
          <a:ln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5">
              <a:shade val="65000"/>
            </a:schemeClr>
          </a:solidFill>
          <a:ln>
            <a:solidFill>
              <a:schemeClr val="bg1"/>
            </a:solidFill>
          </a:ln>
          <a:effectLst/>
        </c:spPr>
      </c:pivotFmt>
      <c:pivotFmt>
        <c:idx val="12"/>
        <c:spPr>
          <a:solidFill>
            <a:schemeClr val="accent5"/>
          </a:solidFill>
          <a:ln>
            <a:solidFill>
              <a:schemeClr val="bg1"/>
            </a:solidFill>
          </a:ln>
          <a:effectLst/>
        </c:spPr>
      </c:pivotFmt>
      <c:pivotFmt>
        <c:idx val="13"/>
        <c:spPr>
          <a:solidFill>
            <a:schemeClr val="accent5">
              <a:tint val="65000"/>
            </a:schemeClr>
          </a:solidFill>
          <a:ln>
            <a:solidFill>
              <a:schemeClr val="bg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0527559055118108"/>
          <c:y val="0.16245370370370371"/>
          <c:w val="0.70098818897637794"/>
          <c:h val="0.73051727909011377"/>
        </c:manualLayout>
      </c:layout>
      <c:pieChart>
        <c:varyColors val="1"/>
        <c:ser>
          <c:idx val="0"/>
          <c:order val="0"/>
          <c:tx>
            <c:strRef>
              <c:f>'PIVOT TABLE'!$J$4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5">
                  <a:shade val="65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55-485E-92FA-208B2A1A453A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55-485E-92FA-208B2A1A453A}"/>
              </c:ext>
            </c:extLst>
          </c:dPt>
          <c:dPt>
            <c:idx val="2"/>
            <c:bubble3D val="0"/>
            <c:spPr>
              <a:solidFill>
                <a:schemeClr val="accent5">
                  <a:tint val="65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55-485E-92FA-208B2A1A453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62E0B80-0282-4BF3-ACA1-7D19868A1A84}" type="VALUE">
                      <a:rPr lang="en-US" sz="1400"/>
                      <a:pPr/>
                      <a:t>[VALUE]</a:t>
                    </a:fld>
                    <a:endParaRPr lang="en-US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B55-485E-92FA-208B2A1A4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TABLE'!$I$5:$I$8</c:f>
              <c:strCache>
                <c:ptCount val="3"/>
                <c:pt idx="0">
                  <c:v>Mandalay</c:v>
                </c:pt>
                <c:pt idx="1">
                  <c:v>Naypyitaw</c:v>
                </c:pt>
                <c:pt idx="2">
                  <c:v>Yangon</c:v>
                </c:pt>
              </c:strCache>
            </c:strRef>
          </c:cat>
          <c:val>
            <c:numRef>
              <c:f>'PIVOT TABLE'!$J$5:$J$8</c:f>
              <c:numCache>
                <c:formatCode>_("$"* #,##0_);_("$"* \(#,##0\);_("$"* "-"??_);_(@_)</c:formatCode>
                <c:ptCount val="3"/>
                <c:pt idx="0">
                  <c:v>106200</c:v>
                </c:pt>
                <c:pt idx="1">
                  <c:v>110572</c:v>
                </c:pt>
                <c:pt idx="2">
                  <c:v>106203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55-485E-92FA-208B2A1A453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[ASSIGNMENT - WINMART SUPERMARKET PIVOT AND DASHBOARD (version 1).xlsb.xlsx]PIVOT TABLE!PivotTable10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u="sng" dirty="0"/>
              <a:t>SALES BY CUSTOMER TYPE AND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'PIVOT TABLE'!$D$15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TABLE'!$C$16:$C$18</c:f>
              <c:strCache>
                <c:ptCount val="2"/>
                <c:pt idx="0">
                  <c:v>Member</c:v>
                </c:pt>
                <c:pt idx="1">
                  <c:v>Normal</c:v>
                </c:pt>
              </c:strCache>
            </c:strRef>
          </c:cat>
          <c:val>
            <c:numRef>
              <c:f>'PIVOT TABLE'!$D$16:$D$18</c:f>
              <c:numCache>
                <c:formatCode>"$"#,##0</c:formatCode>
                <c:ptCount val="2"/>
                <c:pt idx="0">
                  <c:v>189699</c:v>
                </c:pt>
                <c:pt idx="1">
                  <c:v>133276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92-4B11-84BC-990ABBF50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98609423"/>
        <c:axId val="1298618063"/>
        <c:axId val="0"/>
      </c:bar3DChart>
      <c:catAx>
        <c:axId val="1298609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8618063"/>
        <c:crosses val="autoZero"/>
        <c:auto val="1"/>
        <c:lblAlgn val="ctr"/>
        <c:lblOffset val="100"/>
        <c:noMultiLvlLbl val="0"/>
      </c:catAx>
      <c:valAx>
        <c:axId val="1298618063"/>
        <c:scaling>
          <c:orientation val="minMax"/>
        </c:scaling>
        <c:delete val="1"/>
        <c:axPos val="l"/>
        <c:numFmt formatCode="&quot;$&quot;#,##0" sourceLinked="1"/>
        <c:majorTickMark val="none"/>
        <c:minorTickMark val="none"/>
        <c:tickLblPos val="nextTo"/>
        <c:crossAx val="1298609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B0C60-2286-4E97-B539-8D063B8348B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ABB61-7993-4399-9873-1D3439EAC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6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ABB61-7993-4399-9873-1D3439EAC9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4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2A90-0728-C26D-832A-67B7FE17C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3CFCA-ECD8-E018-717D-2E235808E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C6FD-EE3B-4C8B-39D5-9A22471D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32E8-148D-FFCE-2488-8E31B4DF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9F396-CB33-B34D-53F1-4269636E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67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A35F-5A92-678C-2953-CD181611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E66F2-BA84-BF01-B8FB-91CAB0F8B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29780-3000-599C-1E52-A10CBC95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2A10-9F31-7510-9E76-8E70B180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E104-CF28-71BD-1525-68A77A01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8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C759-8BF0-8A65-471C-8D351DEF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E33DE-BBC9-0CA9-4408-6C79FE6D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60CE0-1900-F97F-B94F-279968C5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42EC-1C4C-F0E1-EF86-1AB9E39C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C2CA-C654-6F87-8595-4EFE54F3D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5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B95E-6EB8-47A2-666F-E8664023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C922-B87C-FC94-9D4B-86D07C712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775A6-EBDA-29EB-CAD9-5C9DFC0E6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B3F4B-D06D-4A71-186A-E0F041EF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86FAE-3111-B96E-9A24-7BDBFA53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4D61D-A201-E16D-EBA2-CF9F2F43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2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EA7-68F9-6073-2B51-6D3F9B22D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D7FD9-5025-CCAC-91D3-8D3DC90A0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C4215-C085-A9DA-1012-BF29802F5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EDB00-F122-E83A-2C33-ACF028530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FCB15-5ECB-AAE5-EC19-E0D1EF280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332FE-5595-FF1C-2DA1-EEBB22C9F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97FF96-48CE-4C69-7542-B4BD7BCD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8BE3D-4FFE-8EC0-ADEA-E4F2936C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5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9A4B-E1DD-D705-01B7-56F7211C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729D1-ED67-5A72-7BC6-37B211E91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9CBB1-9740-89D0-DA37-92E42774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B31CF-E1BE-FB6D-149A-F31F4341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5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C929A-1A33-4DCC-A736-548E36C9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BFBA3-A417-96B8-F7FE-B6EAEDAF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1B2C1-A8D9-9687-CC29-21A2063A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1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4519-A041-ACBF-A0BC-CEC8517BC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15ECC-606D-A238-0EFA-95311B62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213AB-6F5F-68EF-8A27-64AC7757F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26693-3DC9-FF80-7CB0-D8509185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4E8E8-EFB9-3A70-9DB0-44C27E0E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A7987-3B01-251D-421C-80682D52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4BEB-E24A-0640-B824-1A5C8462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32D1D-66C3-2621-C41A-465520D54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868AF-9197-5BE3-0A09-2BAA9935F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997D5-6781-CE54-8E9C-63C67F8E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0E970-212A-376D-8AC6-99A44A82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A43-E604-BE72-C431-09FF42A6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3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04FC-8DF7-89DA-381A-B493270F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65125-73F0-68A1-106B-131A8D99C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E9B0C-BC56-2072-C423-F644AE5B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18F5C-DD6B-FDC2-B779-6EB278FF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DFEF3-2551-2526-98F3-49EE70EA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4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4C547-F050-E90F-A7D3-2481072F2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58E5D-581A-7FCF-390D-4DE39869C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33C20-8A64-CAE4-AE74-F56EA80D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3CD-CE31-CA56-6076-28CA9B9F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14627-FFCB-DE7F-5742-443135EC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1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35EBB-DD7D-C88D-2F5E-36F19C40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DFC82-8828-08D8-86A0-BF1258A2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1F24B-DB66-5662-15F6-D7D3EE4C2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EC663-ADE2-4FF4-8D85-C0E170B6F1C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BC76-C863-1A96-0362-D833F4046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0DD99-F4E4-24FC-8B7F-55468BC4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07227-0355-4F66-AA2C-FF81931D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60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0D7BB1-FAD4-0DA7-810B-E332AEE4B5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247529-3624-6146-625A-FF4D514DA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WINMART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SUPERMARKET</a:t>
            </a:r>
            <a:r>
              <a:rPr lang="en-US" dirty="0">
                <a:solidFill>
                  <a:schemeClr val="tx1"/>
                </a:solidFill>
              </a:rPr>
              <a:t> , </a:t>
            </a:r>
            <a:r>
              <a:rPr lang="en-US" b="1" dirty="0">
                <a:solidFill>
                  <a:schemeClr val="tx1"/>
                </a:solidFill>
              </a:rPr>
              <a:t>MYANMAR</a:t>
            </a:r>
            <a:r>
              <a:rPr lang="en-US" dirty="0">
                <a:solidFill>
                  <a:schemeClr val="tx1"/>
                </a:solidFill>
              </a:rPr>
              <a:t>…..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57661-8CBC-8E51-AF75-07C0D6A9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Supermarket chain in Myanmar, across three cities: Yangon, Naypyitaw and Mandalay.</a:t>
            </a:r>
          </a:p>
          <a:p>
            <a:r>
              <a:rPr lang="en-US" b="1" u="sng" dirty="0">
                <a:solidFill>
                  <a:srgbClr val="FFFFFF"/>
                </a:solidFill>
              </a:rPr>
              <a:t>PRESENTED BY : STEPHANIE ONYENWEZI</a:t>
            </a:r>
          </a:p>
        </p:txBody>
      </p:sp>
    </p:spTree>
    <p:extLst>
      <p:ext uri="{BB962C8B-B14F-4D97-AF65-F5344CB8AC3E}">
        <p14:creationId xmlns:p14="http://schemas.microsoft.com/office/powerpoint/2010/main" val="75497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BCED-4923-F5C8-B11A-F36C4A9C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C811D-76B1-A645-76F0-3DC98918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WINMART SUPER MARKET IS LOCATED IN MYANMAR, AND HAS BRANCHES ACROSS THREE CITIES: YANGON, NAYPYITAW AND MANDALAY.  THIS SLIDES CAPTURES TRANSACTION RECORDS AND PROVIDES A COMPREHENSIVE VIEW OF SALES ACTIVITIES, CUSTOMER DEMOGRAPHICS AND PAYMENT METHOD FROM JANUARY TO MARCH 2019. </a:t>
            </a:r>
          </a:p>
        </p:txBody>
      </p:sp>
    </p:spTree>
    <p:extLst>
      <p:ext uri="{BB962C8B-B14F-4D97-AF65-F5344CB8AC3E}">
        <p14:creationId xmlns:p14="http://schemas.microsoft.com/office/powerpoint/2010/main" val="323176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5951-9338-DB96-792A-75C9427C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6000" b="1" u="sng" dirty="0">
                <a:highlight>
                  <a:srgbClr val="800080"/>
                </a:highlight>
              </a:rPr>
            </a:br>
            <a:r>
              <a:rPr lang="en-US" sz="4900" b="1" u="sng" dirty="0">
                <a:highlight>
                  <a:srgbClr val="800080"/>
                </a:highlight>
              </a:rPr>
              <a:t>PRODUCT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17AAE-983C-6A2C-B723-E829A570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PRODUCT LINES IN WINMART SUPER MARKET CHAIN INCLUDES: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HEALTH AND BEAUTY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HOME AND LIFESTYLE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FASHION ACCESSORIES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ELECTRONIC ACCESSORIES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SPORTS AND TRAVEL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FOOD AND BEVERAGES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55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FFD1-AA02-D5FC-7B6E-9BB62EEF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D9B89-73F1-9C35-5A59-BF83B1286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1590493"/>
            <a:ext cx="10515600" cy="4351338"/>
          </a:xfrm>
        </p:spPr>
        <p:txBody>
          <a:bodyPr>
            <a:normAutofit/>
          </a:bodyPr>
          <a:lstStyle/>
          <a:p>
            <a:endParaRPr lang="en-US" sz="1600" b="1" u="sng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What are the underlying factors contributing to the observed decline in sales during specific hours and the decrease in sales volume in certain months?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Why is there a significant sales difference between top-performing categories (Food and Beverages, Sports and Travel) and the underperforming Health and Beauty category, and what strategies can be implemented to drive growth and improve sales performance?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What are root causes contributing to the inconsistent growth patterns across the three branches, and how can strategies be optimized to drive uniform growth and maximize productivity?</a:t>
            </a:r>
          </a:p>
        </p:txBody>
      </p:sp>
    </p:spTree>
    <p:extLst>
      <p:ext uri="{BB962C8B-B14F-4D97-AF65-F5344CB8AC3E}">
        <p14:creationId xmlns:p14="http://schemas.microsoft.com/office/powerpoint/2010/main" val="1349234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4D41-9296-91C1-63C5-6E406F3E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FINDINGS AND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4BB645-E4B6-470F-93E4-7B3B96E92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537442"/>
              </p:ext>
            </p:extLst>
          </p:nvPr>
        </p:nvGraphicFramePr>
        <p:xfrm>
          <a:off x="838200" y="1808208"/>
          <a:ext cx="626364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84BB645-E4B6-470F-93E4-7B3B96E928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2924652"/>
              </p:ext>
            </p:extLst>
          </p:nvPr>
        </p:nvGraphicFramePr>
        <p:xfrm>
          <a:off x="464820" y="1690688"/>
          <a:ext cx="6545580" cy="4468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15C830-8FDC-A331-BF2A-6504C537F1BE}"/>
              </a:ext>
            </a:extLst>
          </p:cNvPr>
          <p:cNvSpPr txBox="1"/>
          <p:nvPr/>
        </p:nvSpPr>
        <p:spPr>
          <a:xfrm>
            <a:off x="7475220" y="2107476"/>
            <a:ext cx="43103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Sales varies widely by hour of the day. Peak performance occurs at 7 pm ($39,698) and 1 pm ($34,719). However, 8pm ($22,967), 5 pm ($24,445), and 4 pm($25,226) show weaker sales. This suggests missed revenue opportunities during off-peak hours.</a:t>
            </a:r>
          </a:p>
        </p:txBody>
      </p:sp>
    </p:spTree>
    <p:extLst>
      <p:ext uri="{BB962C8B-B14F-4D97-AF65-F5344CB8AC3E}">
        <p14:creationId xmlns:p14="http://schemas.microsoft.com/office/powerpoint/2010/main" val="316175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C0E1-5826-75CA-A9FD-C0F34F81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FINDINGS AND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0AD2CE-824F-40C1-9DED-25F68D370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092310"/>
              </p:ext>
            </p:extLst>
          </p:nvPr>
        </p:nvGraphicFramePr>
        <p:xfrm>
          <a:off x="365760" y="1764665"/>
          <a:ext cx="70104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B6C650-87D9-FD08-603D-097045CF1CD5}"/>
              </a:ext>
            </a:extLst>
          </p:cNvPr>
          <p:cNvSpPr txBox="1"/>
          <p:nvPr/>
        </p:nvSpPr>
        <p:spPr>
          <a:xfrm>
            <a:off x="7609840" y="1931015"/>
            <a:ext cx="3545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Sales peaked in January at $116,296, but dipped in February to $97,214, rebounding in March to $109,465, indicating seasonal fluctuations. </a:t>
            </a:r>
          </a:p>
        </p:txBody>
      </p:sp>
    </p:spTree>
    <p:extLst>
      <p:ext uri="{BB962C8B-B14F-4D97-AF65-F5344CB8AC3E}">
        <p14:creationId xmlns:p14="http://schemas.microsoft.com/office/powerpoint/2010/main" val="190273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0D5C-511F-5569-9AF6-427A6864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FINDINGS AND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AE9042-D815-4AF2-8C31-ED888834D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468911"/>
              </p:ext>
            </p:extLst>
          </p:nvPr>
        </p:nvGraphicFramePr>
        <p:xfrm>
          <a:off x="284480" y="1825625"/>
          <a:ext cx="697992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2873E9-3DE7-8C41-0F14-9FB8F94E6C5C}"/>
              </a:ext>
            </a:extLst>
          </p:cNvPr>
          <p:cNvSpPr txBox="1"/>
          <p:nvPr/>
        </p:nvSpPr>
        <p:spPr>
          <a:xfrm>
            <a:off x="7721600" y="1968560"/>
            <a:ext cx="426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The supermarket chain has seen varying sales performance across categories, with Food And Beverages leading at $56,154, followed closely by Sports And Travel at $55,126, and Electronic Accessories at $54,338. However, Health And Beauty lags  behind at $49,190, indicating potential opportunities for growth. </a:t>
            </a:r>
          </a:p>
        </p:txBody>
      </p:sp>
    </p:spTree>
    <p:extLst>
      <p:ext uri="{BB962C8B-B14F-4D97-AF65-F5344CB8AC3E}">
        <p14:creationId xmlns:p14="http://schemas.microsoft.com/office/powerpoint/2010/main" val="391090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2423-08E4-7850-981A-22941D11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FINDINGS AND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34C9DD-628F-4C96-A863-45E1FF141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154334"/>
              </p:ext>
            </p:extLst>
          </p:nvPr>
        </p:nvGraphicFramePr>
        <p:xfrm>
          <a:off x="335281" y="1814740"/>
          <a:ext cx="670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6544F7-30D0-B658-845F-9F7AC4AA59DE}"/>
              </a:ext>
            </a:extLst>
          </p:cNvPr>
          <p:cNvSpPr txBox="1"/>
          <p:nvPr/>
        </p:nvSpPr>
        <p:spPr>
          <a:xfrm>
            <a:off x="7162800" y="1887696"/>
            <a:ext cx="47650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The supermarket branch in Naypyitaw leads regional sales at $110,572, surpassing Mandalay's $106,200 and Yangon's $106,203, indicating strong market potential in the capital city. Sales are evenly distributed between Mandalay and Yangon, suggesting opportunities for targeted growth initiatives</a:t>
            </a:r>
          </a:p>
        </p:txBody>
      </p:sp>
    </p:spTree>
    <p:extLst>
      <p:ext uri="{BB962C8B-B14F-4D97-AF65-F5344CB8AC3E}">
        <p14:creationId xmlns:p14="http://schemas.microsoft.com/office/powerpoint/2010/main" val="354870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681F-2DB2-AC8F-68F3-E32CAB1F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FINDINGS AND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75FEBA-B76F-4E13-9BB3-89EC49399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984990"/>
              </p:ext>
            </p:extLst>
          </p:nvPr>
        </p:nvGraphicFramePr>
        <p:xfrm>
          <a:off x="838200" y="1825625"/>
          <a:ext cx="63754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DEFA6-C826-20DA-A1AB-85BFE51BD811}"/>
              </a:ext>
            </a:extLst>
          </p:cNvPr>
          <p:cNvSpPr txBox="1"/>
          <p:nvPr/>
        </p:nvSpPr>
        <p:spPr>
          <a:xfrm>
            <a:off x="7416800" y="1900535"/>
            <a:ext cx="3799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/>
              <a:t>BONUS FINDINGS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The supermarket's initiative to encourage customer membership registration has led to increased loyalty and repeat patronage. Which has a significant impact  and increase in revenue from sales.</a:t>
            </a:r>
          </a:p>
        </p:txBody>
      </p:sp>
    </p:spTree>
    <p:extLst>
      <p:ext uri="{BB962C8B-B14F-4D97-AF65-F5344CB8AC3E}">
        <p14:creationId xmlns:p14="http://schemas.microsoft.com/office/powerpoint/2010/main" val="572912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B5CE-9AF6-6327-2087-BA58560C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0F7D-5966-9B02-AE51-33D933F0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OFFER EARLY BIRD DEALS FOR THE EARLY HOURS SHOPPERS TO INCREASE MORNING PATRONAGE AND OPTIMIZE STAFFING.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CONDUCT AN ANALYSIS TO IDENTIFY THE KEY FACTORS CONTRIBUTING TO LOW SALES AND DEVELOP TARGETED STRATEGIES TO ADDRESS THESES CHALLENGES AND STABILIZE SALES PERFORMANCE.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FOCUS ON HIGH MARGIN GOODS ( FOOD &amp; BEVERAGES) AND CROSS SELL ITEMS ON PRODUCT LINES. EXAMPLE , CROSS SELL ITEMS ON PRODUCTLINE HEALTH AND BEAUTY WITH SPORTS AND TRAVEL.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REPLICATE TOP BRANCH’S MODEL AND LAY OUT FOR MORE PRODUCTIVITY.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USE DATA DRIVEN CAMPAIGNS AND DIGITAL EXPANSION TECHNIQUES TO ATTRACT MORE SALES TO THE SUPERMARKET.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BONUS RECOMMENDATION- PRIRIOTIZE CONTINIOUS PROMOTION OF DIGITAL LOYALTY INCENTIVES.</a:t>
            </a:r>
          </a:p>
          <a:p>
            <a:pPr algn="ctr"/>
            <a:endParaRPr lang="en-US" b="1" u="sng" dirty="0">
              <a:solidFill>
                <a:schemeClr val="bg1"/>
              </a:solidFill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873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E89C-13CA-3A41-07D9-4ACBD40A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highlight>
                  <a:srgbClr val="800080"/>
                </a:highlight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C8C1-3E55-8C91-9338-EBBB5020F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The supermarket demonstrates strong overall performance with steady sales and loyal customer activity. However, growth has begun leveling off, signaling the need for renewed strategies.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By optimizing sales hours, cross selling product lines, enhancing customer experience, and replicating high-performing branch models, the supermarket can achieve sustained growth, stronger profitability, and a more competitive market position.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190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177C-A60F-778B-A3A9-DE0AC610A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highlight>
                  <a:srgbClr val="800080"/>
                </a:highligh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659172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MAGEN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 Narrow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MAGENTER</Template>
  <TotalTime>507</TotalTime>
  <Words>635</Words>
  <Application>Microsoft Office PowerPoint</Application>
  <PresentationFormat>Widescreen</PresentationFormat>
  <Paragraphs>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Wingdings</vt:lpstr>
      <vt:lpstr>Theme MAGENTER</vt:lpstr>
      <vt:lpstr>WINMART SUPERMARKET , MYANMAR…..</vt:lpstr>
      <vt:lpstr>INTRODUCTION</vt:lpstr>
      <vt:lpstr> PRODUCT LINES</vt:lpstr>
      <vt:lpstr>PROBLEM STATEMENT</vt:lpstr>
      <vt:lpstr>FINDINGS AND ANALYSIS</vt:lpstr>
      <vt:lpstr>FINDINGS AND ANALYSIS</vt:lpstr>
      <vt:lpstr>FINDINGS AND ANALYSIS</vt:lpstr>
      <vt:lpstr>FINDINGS AND ANALYSIS</vt:lpstr>
      <vt:lpstr>FINDINGS AND ANALYSIS</vt:lpstr>
      <vt:lpstr>RECOMMENDATION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52</cp:revision>
  <dcterms:created xsi:type="dcterms:W3CDTF">2025-11-01T16:58:47Z</dcterms:created>
  <dcterms:modified xsi:type="dcterms:W3CDTF">2025-11-21T22:49:16Z</dcterms:modified>
</cp:coreProperties>
</file>